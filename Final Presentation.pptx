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5143500" cy="9144000"/>
  <p:embeddedFontLst>
    <p:embeddedFont>
      <p:font typeface="Quattrocento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nMvxmYaU5+5LXUMoPlwHX505m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E047575-E995-4F4E-A87F-CCF9204F1650}">
  <a:tblStyle styleId="{AE047575-E995-4F4E-A87F-CCF9204F165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regular.fntdata"/><Relationship Id="rId11" Type="http://schemas.openxmlformats.org/officeDocument/2006/relationships/slide" Target="slides/slide6.xml"/><Relationship Id="rId22" Type="http://schemas.openxmlformats.org/officeDocument/2006/relationships/font" Target="fonts/QuattrocentoSans-italic.fntdata"/><Relationship Id="rId10" Type="http://schemas.openxmlformats.org/officeDocument/2006/relationships/slide" Target="slides/slide5.xml"/><Relationship Id="rId21" Type="http://schemas.openxmlformats.org/officeDocument/2006/relationships/font" Target="fonts/QuattrocentoSans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Quattrocento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2059a267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2059a267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f2059a267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e1c48b8f3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ee1c48b8f3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ee1c48b8f3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e1c48b8f3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ee1c48b8f3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ee1c48b8f3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e1c48b8f3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ee1c48b8f3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ee1c48b8f3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Quattrocento San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Risk Scoring &amp; Prioritization System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31520" y="2423160"/>
            <a:ext cx="32004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600"/>
              <a:buFont typeface="Quattrocento Sans"/>
              <a:buNone/>
            </a:pPr>
            <a:r>
              <a:rPr b="1" i="0" lang="en-US" sz="1600" u="none" cap="none" strike="noStrike">
                <a:solidFill>
                  <a:srgbClr val="60A5F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AI/ML Intelligence Hackathon — Track 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306324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Quattrocento Sans"/>
              <a:buNone/>
            </a:pPr>
            <a:r>
              <a:rPr b="0" i="1" lang="en-US" sz="1200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"Transforming transaction data into actionable investigation priorities."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31520" y="402336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93C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Team: </a:t>
            </a:r>
            <a:r>
              <a:rPr lang="en-US" sz="11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Descent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100" u="none" cap="none" strike="noStrike">
                <a:solidFill>
                  <a:srgbClr val="93C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Members: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Anmol Shrestha, Amulya Shrestha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Quattrocento San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Statement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6400800" y="2743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RISK PRIORITIZATION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2"/>
          <p:cNvCxnSpPr/>
          <p:nvPr/>
        </p:nvCxnSpPr>
        <p:spPr>
          <a:xfrm>
            <a:off x="457200" y="731520"/>
            <a:ext cx="8229600" cy="9144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AI/ML Intelligence Hackathon — Track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7315200" y="48463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2 of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7200" y="1188720"/>
            <a:ext cx="3931920" cy="3383280"/>
          </a:xfrm>
          <a:prstGeom prst="roundRect">
            <a:avLst>
              <a:gd fmla="val 16667" name="adj"/>
            </a:avLst>
          </a:prstGeom>
          <a:solidFill>
            <a:srgbClr val="FEF2F2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731520" y="137160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Quattrocento Sans"/>
              <a:buNone/>
            </a:pPr>
            <a:r>
              <a:rPr b="1" i="0" lang="en-US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CHALLENGE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31520" y="1737345"/>
            <a:ext cx="3383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Financial institutions process thousands of transactions daily, making it impossible for analysts to investigate every account equally.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31520" y="2468880"/>
            <a:ext cx="33832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Large transaction volumes</a:t>
            </a:r>
            <a:b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Limited investigation resources</a:t>
            </a:r>
            <a:b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High false-positive rates</a:t>
            </a:r>
            <a:b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Difficulty prioritizing suspicious accounts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754880" y="1188720"/>
            <a:ext cx="3931920" cy="338328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5029200" y="137160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Quattrocento Sans"/>
              <a:buNone/>
            </a:pPr>
            <a:r>
              <a:rPr b="1" i="0" lang="en-US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OUR GOAL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029200" y="1645920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Develop an intelligent system that ranks threats and explains risk factors to optimize analyst investigations: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029200" y="2468880"/>
            <a:ext cx="33832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Predicts account risk</a:t>
            </a:r>
            <a:br>
              <a:rPr b="1" i="0" lang="en-US" sz="12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Using machine learning transaction-level probability</a:t>
            </a:r>
            <a:b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2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Ranks accounts by investigation priority</a:t>
            </a:r>
            <a:br>
              <a:rPr b="1" i="0" lang="en-US" sz="12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Focusing operational resources on the highest-threat entities</a:t>
            </a:r>
            <a:b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2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Explains why an account is considered risky</a:t>
            </a:r>
            <a:br>
              <a:rPr b="1" i="0" lang="en-US" sz="12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Using SHAP explanations for full auditability and transparency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Quattrocento San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Dataset Overview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6400800" y="2743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AML RISK PRIORITIZATION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" name="Google Shape;47;p3"/>
          <p:cNvCxnSpPr/>
          <p:nvPr/>
        </p:nvCxnSpPr>
        <p:spPr>
          <a:xfrm>
            <a:off x="457200" y="731520"/>
            <a:ext cx="8229600" cy="9144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3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AI/ML Intelligence Hackathon — Track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7315200" y="48463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3 of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Quattrocento Sans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SOURCE &amp; SCALE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57200" y="128016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4000"/>
              <a:buFont typeface="Quattrocento Sans"/>
              <a:buNone/>
            </a:pPr>
            <a:r>
              <a:rPr b="1" i="0" lang="en-US" sz="40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100,000+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57200" y="1920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Transactions (ml_features.csv)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57200" y="228600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Quattrocento Sans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 Variable: </a:t>
            </a:r>
            <a:r>
              <a:rPr b="0" i="0" lang="en-US" sz="12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is_suspicious_tx</a:t>
            </a:r>
            <a:br>
              <a:rPr b="0" i="0" lang="en-US" sz="12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Granularity: </a:t>
            </a:r>
            <a:r>
              <a:rPr b="0" i="0" lang="en-US" sz="12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Transaction-level features aggregated to account-level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57200" y="3108960"/>
            <a:ext cx="3840480" cy="1463040"/>
          </a:xfrm>
          <a:prstGeom prst="roundRect">
            <a:avLst>
              <a:gd fmla="val 16667" name="adj"/>
            </a:avLst>
          </a:prstGeom>
          <a:solidFill>
            <a:srgbClr val="FEF2F2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640080" y="320040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Quattrocento Sans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OBSERVATION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40080" y="347472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dataset is highly imbalanced (suspicious activities represent a tiny fraction). Traditional metrics like accuracy are misleading. The model must be validated using PR-AUC (Precision-Recall Area Under Curve).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754880" y="10972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Quattrocento Sans"/>
              <a:buNone/>
            </a:pPr>
            <a:r>
              <a:rPr b="1" i="0" lang="en-US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 CATEGORIES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754880" y="1371600"/>
            <a:ext cx="3931920" cy="1005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4937760" y="146304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Quattrocento Sans"/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Transaction Features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937760" y="17373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Amount  • Currency  • Cross-border activity flags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754880" y="2468880"/>
            <a:ext cx="3931920" cy="1005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937760" y="256032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Quattrocento Sans"/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KYC Features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937760" y="283464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PEP indicators  • Sanctions indicators  • Account age in days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754880" y="3566160"/>
            <a:ext cx="3931920" cy="1005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937760" y="365760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Quattrocento Sans"/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Behavioral Features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937760" y="393192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Quattrocento Sans"/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Transaction velocity (rolling counts)  • Amount variance over time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Quattrocento Sans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Exploratory Data Analysis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6400800" y="2743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AML RISK PRIORITIZATION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" name="Google Shape;74;p4"/>
          <p:cNvCxnSpPr/>
          <p:nvPr/>
        </p:nvCxnSpPr>
        <p:spPr>
          <a:xfrm>
            <a:off x="457200" y="731520"/>
            <a:ext cx="8229600" cy="9144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4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AI/ML Intelligence Hackathon — Track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7315200" y="48463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4 of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INSIGHTS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57200" y="1280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Quattrocento Sans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914400" y="128016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Cross-Border Spikes: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Transactions crossing borders showed significantly higher suspicious activity rates.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57200" y="20116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Quattrocento Sans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914400" y="201168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Velocity Correlations: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 transaction frequency and velocity were strongly associated with suspicious behaviour.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57200" y="27432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Quattrocento Sans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914400" y="274320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KYC Risk Flags: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PEP and sanctions indicators contribute the most significant boost to risk probability.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57200" y="34747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Quattrocento Sans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914400" y="347472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Amount Limitations: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Large transaction amounts alone were insufficient indicators of risk without behavioral context.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389120" y="100584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EDA VISUALIZATIONS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389120" y="1280160"/>
            <a:ext cx="2011680" cy="1554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anmol\claude\eda_class_imbalance.png" id="88" name="Google Shape;8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4840" y="1325880"/>
            <a:ext cx="1920240" cy="146304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/>
          <p:nvPr/>
        </p:nvSpPr>
        <p:spPr>
          <a:xfrm>
            <a:off x="4389120" y="283464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 Distribution Imbalance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583680" y="1280160"/>
            <a:ext cx="2103120" cy="1554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anmol\claude\eda_amount_distribution.png" id="91" name="Google Shape;9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1325880"/>
            <a:ext cx="2011680" cy="14630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6583680" y="2834640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Amount Distribution Profile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389120" y="3063240"/>
            <a:ext cx="4297680" cy="1508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anmol\claude\eda_feature_correlation.png" id="94" name="Google Shape;9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4840" y="3108960"/>
            <a:ext cx="4206240" cy="141732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4"/>
          <p:cNvSpPr/>
          <p:nvPr/>
        </p:nvSpPr>
        <p:spPr>
          <a:xfrm>
            <a:off x="4389120" y="4572000"/>
            <a:ext cx="4297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 Correlation Heatmap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2059a267f_0_0"/>
          <p:cNvSpPr txBox="1"/>
          <p:nvPr/>
        </p:nvSpPr>
        <p:spPr>
          <a:xfrm>
            <a:off x="337325" y="269900"/>
            <a:ext cx="51435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A86E8"/>
                </a:solidFill>
              </a:rPr>
              <a:t>Some </a:t>
            </a:r>
            <a:r>
              <a:rPr lang="en-US" sz="2400">
                <a:solidFill>
                  <a:srgbClr val="4A86E8"/>
                </a:solidFill>
              </a:rPr>
              <a:t>Important</a:t>
            </a:r>
            <a:r>
              <a:rPr lang="en-US" sz="2400">
                <a:solidFill>
                  <a:srgbClr val="4A86E8"/>
                </a:solidFill>
              </a:rPr>
              <a:t> EDA findings</a:t>
            </a:r>
            <a:endParaRPr sz="2400">
              <a:solidFill>
                <a:srgbClr val="4A86E8"/>
              </a:solidFill>
            </a:endParaRPr>
          </a:p>
        </p:txBody>
      </p:sp>
      <p:sp>
        <p:nvSpPr>
          <p:cNvPr id="102" name="Google Shape;102;g3f2059a267f_0_0"/>
          <p:cNvSpPr/>
          <p:nvPr/>
        </p:nvSpPr>
        <p:spPr>
          <a:xfrm>
            <a:off x="277775" y="1268100"/>
            <a:ext cx="2762400" cy="86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f2059a267f_0_0"/>
          <p:cNvSpPr/>
          <p:nvPr/>
        </p:nvSpPr>
        <p:spPr>
          <a:xfrm>
            <a:off x="5195600" y="1270125"/>
            <a:ext cx="2762400" cy="86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Spike rise in the fraud transaction in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November</a:t>
            </a:r>
            <a:endParaRPr sz="1700"/>
          </a:p>
        </p:txBody>
      </p:sp>
      <p:sp>
        <p:nvSpPr>
          <p:cNvPr id="104" name="Google Shape;104;g3f2059a267f_0_0"/>
          <p:cNvSpPr txBox="1"/>
          <p:nvPr/>
        </p:nvSpPr>
        <p:spPr>
          <a:xfrm>
            <a:off x="396825" y="1464600"/>
            <a:ext cx="23931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Highly imbalanced dataset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5" name="Google Shape;105;g3f2059a267f_0_0"/>
          <p:cNvCxnSpPr/>
          <p:nvPr/>
        </p:nvCxnSpPr>
        <p:spPr>
          <a:xfrm>
            <a:off x="277775" y="889000"/>
            <a:ext cx="8691600" cy="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" name="Google Shape;106;g3f2059a267f_0_0"/>
          <p:cNvSpPr txBox="1"/>
          <p:nvPr/>
        </p:nvSpPr>
        <p:spPr>
          <a:xfrm>
            <a:off x="6861975" y="591350"/>
            <a:ext cx="2047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1" lang="en-US" sz="9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AML RISK PRIORITIZATION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" name="Google Shape;107;g3f2059a267f_0_0"/>
          <p:cNvCxnSpPr/>
          <p:nvPr/>
        </p:nvCxnSpPr>
        <p:spPr>
          <a:xfrm>
            <a:off x="4450950" y="1317600"/>
            <a:ext cx="12000" cy="329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8" name="Google Shape;108;g3f2059a267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71725"/>
            <a:ext cx="4310550" cy="2257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f2059a267f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2975" y="2389450"/>
            <a:ext cx="4149700" cy="2107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Quattrocento San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Solution Architecture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6400800" y="2743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AML RISK PRIORITIZATION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5"/>
          <p:cNvCxnSpPr/>
          <p:nvPr/>
        </p:nvCxnSpPr>
        <p:spPr>
          <a:xfrm>
            <a:off x="457200" y="731520"/>
            <a:ext cx="8229600" cy="9144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AI/ML Intelligence Hackathon — Track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7315200" y="48463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5 of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57200" y="10058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END-TO-END WORKFLOW PHASES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57200" y="1280160"/>
            <a:ext cx="25603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640080" y="146304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1: PREDICTION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40080" y="1783080"/>
            <a:ext cx="21945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Raw Transaction Data</a:t>
            </a:r>
            <a:b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Inbound financial record stream</a:t>
            </a:r>
            <a:b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Feature Engineering</a:t>
            </a:r>
            <a:b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Build velocity &amp; risk signals</a:t>
            </a:r>
            <a:b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LightGBM Model</a:t>
            </a:r>
            <a:b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Compute transaction probabilities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2709970" y="2084076"/>
            <a:ext cx="8283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➔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346315" y="1280160"/>
            <a:ext cx="256020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3474720" y="146304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2: PRIORITIZATION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3474720" y="1783080"/>
            <a:ext cx="21945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Account Aggregation</a:t>
            </a:r>
            <a:b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Roll up predictions to account level</a:t>
            </a:r>
            <a:b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Risk Score Generation</a:t>
            </a:r>
            <a:b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Calculate unified threat metric</a:t>
            </a:r>
            <a:b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 Account Ranking</a:t>
            </a:r>
            <a:b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Order entities by investigation priority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769865" y="2343153"/>
            <a:ext cx="4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➔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6126480" y="1280160"/>
            <a:ext cx="25603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6309360" y="146304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3: INVESTIGATION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309360" y="1783080"/>
            <a:ext cx="21945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 SHAP Explainability</a:t>
            </a:r>
            <a:b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Calculate local risk drivers</a:t>
            </a:r>
            <a:b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 Analyst Dashboard</a:t>
            </a:r>
            <a:b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Streamlit UI for investigation</a:t>
            </a:r>
            <a:b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9. Operational Review</a:t>
            </a:r>
            <a:b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High-priority entities processed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57200" y="4114800"/>
            <a:ext cx="8229600" cy="64008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Quattrocento Sans"/>
              <a:buNone/>
            </a:pPr>
            <a:r>
              <a:rPr b="1" i="0" lang="en-US" sz="12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DESIGN PATTERN: </a:t>
            </a:r>
            <a:r>
              <a:rPr b="0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Rather than isolating transaction events, we aggregate signals to deliver </a:t>
            </a:r>
            <a:r>
              <a:rPr b="1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account-level intelligence</a:t>
            </a:r>
            <a:r>
              <a:rPr b="0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helping compliance teams focus on macro behavior.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Quattrocento Sans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 Engineering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400800" y="2743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AML RISK PRIORITIZATION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6"/>
          <p:cNvCxnSpPr/>
          <p:nvPr/>
        </p:nvCxnSpPr>
        <p:spPr>
          <a:xfrm>
            <a:off x="457200" y="731520"/>
            <a:ext cx="8229600" cy="9144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6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AI/ML Intelligence Hackathon — Track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7315200" y="48463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6 of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 SIGNALS ENGINEERED FOR MODELING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57200" y="1280160"/>
            <a:ext cx="2560320" cy="2834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640080" y="14630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Behavioral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40080" y="17830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Quattrocento Sans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640080" y="1924823"/>
            <a:ext cx="21945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842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Transaction velocity</a:t>
            </a:r>
            <a:b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rolling sum of last 10/30 tx</a:t>
            </a:r>
            <a:b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Transaction frequency</a:t>
            </a:r>
            <a:b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count of events in time window</a:t>
            </a:r>
            <a:b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Amount variance</a:t>
            </a:r>
            <a:b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statistical deviation of sums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3291840" y="1280160"/>
            <a:ext cx="2560320" cy="2834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3474720" y="14630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Amount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3474720" y="17830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Quattrocento Sans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474757" y="1924860"/>
            <a:ext cx="21945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842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Quattrocento Sans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Log-transformed amount</a:t>
            </a:r>
            <a:br>
              <a:rPr b="1" i="0" lang="en-US" sz="11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1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stabilizes variance across levels</a:t>
            </a:r>
            <a:br>
              <a:rPr b="0" i="0" lang="en-US" sz="11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1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Amount anomaly score</a:t>
            </a:r>
            <a:br>
              <a:rPr b="1" i="0" lang="en-US" sz="11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1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local sender Z-score metric</a:t>
            </a:r>
            <a:br>
              <a:rPr b="0" i="0" lang="en-US" sz="11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1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High-value flags</a:t>
            </a:r>
            <a:br>
              <a:rPr b="1" i="0" lang="en-US" sz="11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1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threshold triggers (&gt;1M, &gt;10M)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6126480" y="1280160"/>
            <a:ext cx="2560320" cy="2834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6309360" y="14630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 Indicators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6309360" y="17830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Quattrocento Sans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6309360" y="1924823"/>
            <a:ext cx="21945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842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Quattrocento Sans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Country risk scores</a:t>
            </a:r>
            <a:br>
              <a:rPr b="1" i="0" lang="en-US" sz="11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1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geographical exposure factor</a:t>
            </a:r>
            <a:br>
              <a:rPr b="0" i="0" lang="en-US" sz="11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1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Cross-border flags</a:t>
            </a:r>
            <a:br>
              <a:rPr b="1" i="0" lang="en-US" sz="11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1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indicates outbound threat flow</a:t>
            </a:r>
            <a:br>
              <a:rPr b="0" i="0" lang="en-US" sz="11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1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PEP / Sanctions status</a:t>
            </a:r>
            <a:br>
              <a:rPr b="1" i="0" lang="en-US" sz="11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1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regulatory blacklists match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Quattrocento Sans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These engineered features capture suspicious behavioral patterns that traditional rule-based systems (which check single thresholds) completely miss.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Quattrocento San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Development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400800" y="2743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AML RISK PRIORITIZATION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7"/>
          <p:cNvCxnSpPr/>
          <p:nvPr/>
        </p:nvCxnSpPr>
        <p:spPr>
          <a:xfrm>
            <a:off x="457200" y="731520"/>
            <a:ext cx="8229600" cy="9144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7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AI/ML Intelligence Hackathon — Track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7315200" y="48463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7 of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365825" y="1113200"/>
            <a:ext cx="4083000" cy="3527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640117" y="1254725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LIGHTGBM CLASSIFIER APPROACH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40080" y="1737360"/>
            <a:ext cx="35661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Models Evaluated: </a:t>
            </a:r>
            <a:r>
              <a:rPr b="0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Random Forest vs. LightGBM</a:t>
            </a:r>
            <a:br>
              <a:rPr b="0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1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LightGBM Chosen?</a:t>
            </a:r>
            <a:br>
              <a:rPr b="1" i="0" lang="en-US" sz="11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1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Handles Imbalance: </a:t>
            </a:r>
            <a:r>
              <a:rPr b="0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Native class weighting resolves heavy skew.</a:t>
            </a:r>
            <a:br>
              <a:rPr b="0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1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Non-linear Capture: </a:t>
            </a:r>
            <a:r>
              <a:rPr b="0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Tree splits capture complex multi-feature risk interactions.</a:t>
            </a:r>
            <a:br>
              <a:rPr b="0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1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High Efficiency: </a:t>
            </a:r>
            <a:r>
              <a:rPr b="0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Sub-second batch inference over thousands of accounts.</a:t>
            </a:r>
            <a:br>
              <a:rPr b="0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1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Tabular Champion: </a:t>
            </a:r>
            <a:r>
              <a:rPr b="0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Proven performance superiority on structured AML logs.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663440" y="1188720"/>
            <a:ext cx="4023300" cy="155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846320" y="13716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VALIDATION STRATEGY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846320" y="169164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Stratified Train-Test Split: </a:t>
            </a:r>
            <a:r>
              <a:rPr b="0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20% holdout sets preserved.</a:t>
            </a:r>
            <a:br>
              <a:rPr b="0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1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5-Fold Stratified Cross-Validation: </a:t>
            </a:r>
            <a:r>
              <a:rPr b="0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Ensures evaluation consistency, protects against target leakage, and reduces model variance.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663450" y="2926075"/>
            <a:ext cx="4195200" cy="176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4846295" y="30266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EVALUATION METRICS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846320" y="3429000"/>
            <a:ext cx="3657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Quattrocento Sans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PR-AUC (Precision-Recall Curve Area): </a:t>
            </a: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Primary metric due to class imbalance.</a:t>
            </a:r>
            <a:b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0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Recall: </a:t>
            </a: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Measures percentage of true fraud/suspicious accounts successfully flagged.</a:t>
            </a:r>
            <a:b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0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Precision@K: </a:t>
            </a: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Reflects how many alerts are actual threats in the top K ranked alerts (crucial for analyst workloads).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Quattrocento Sans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 Scoring &amp; Ranking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6400800" y="2743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AML RISK PRIORITIZATION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p8"/>
          <p:cNvCxnSpPr/>
          <p:nvPr/>
        </p:nvCxnSpPr>
        <p:spPr>
          <a:xfrm>
            <a:off x="457200" y="731520"/>
            <a:ext cx="8229600" cy="9144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8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AI/ML Intelligence Hackathon — Track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7315200" y="48463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8 of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457200" y="873253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Quattrocento Sans"/>
              <a:buNone/>
            </a:pPr>
            <a:r>
              <a:rPr b="1" i="0" lang="en-US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ACCOUNT-LEVEL PRIORITIZATION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57200" y="1165860"/>
            <a:ext cx="384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Quattrocento Sans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Instead of viewing transaction logs as isolated events, we combine probabilities to prioritize investigation targets: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57200" y="1920240"/>
            <a:ext cx="384048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842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Quattrocento Sans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Transaction Risk Inference</a:t>
            </a:r>
            <a:br>
              <a:rPr b="1" i="0" lang="en-US" sz="11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1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Each transaction gets a risk probability. E.g., Tx A (0.91), Tx B (0.82), Tx C (0.74).</a:t>
            </a:r>
            <a:br>
              <a:rPr b="0" i="0" lang="en-US" sz="11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1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Account-Level Aggregation</a:t>
            </a:r>
            <a:br>
              <a:rPr b="1" i="0" lang="en-US" sz="11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1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Predictions are rolled up using statistics (maximum transaction threat, count of high risk flags, average volumes) to create a unified Account Risk Score.</a:t>
            </a:r>
            <a:br>
              <a:rPr b="0" i="0" lang="en-US" sz="11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1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Prioritized Queue</a:t>
            </a:r>
            <a:br>
              <a:rPr b="1" i="0" lang="en-US" sz="11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1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Accounts are sorted descending by Risk Score. Analysts process top entities first.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663440" y="10058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EXAMPLE PRIORITIZED OUTPUT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1" name="Google Shape;191;p8"/>
          <p:cNvGraphicFramePr/>
          <p:nvPr/>
        </p:nvGraphicFramePr>
        <p:xfrm>
          <a:off x="466344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{AE047575-E995-4F4E-A87F-CCF9204F1650}</a:tableStyleId>
              </a:tblPr>
              <a:tblGrid>
                <a:gridCol w="1341125"/>
                <a:gridCol w="1341125"/>
                <a:gridCol w="1341125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Quattrocento San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Rank</a:t>
                      </a:r>
                      <a:endParaRPr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Quattrocento San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Account ID</a:t>
                      </a:r>
                      <a:endParaRPr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Quattrocento San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Risk Score (0-100)</a:t>
                      </a:r>
                      <a:endParaRPr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Quattrocento Sans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endParaRPr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Quattrocento Sans"/>
                        <a:buNone/>
                      </a:pPr>
                      <a:r>
                        <a:rPr lang="en-US" sz="100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9000000000073</a:t>
                      </a:r>
                      <a:endParaRPr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000"/>
                        <a:buFont typeface="Quattrocento San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EF4444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</a:t>
                      </a:r>
                      <a:r>
                        <a:rPr b="1" lang="en-US" sz="1000">
                          <a:solidFill>
                            <a:srgbClr val="EF4444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9.6</a:t>
                      </a:r>
                      <a:endParaRPr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Quattrocento Sans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</a:t>
                      </a:r>
                      <a:endParaRPr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Quattrocento Sans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000000000171</a:t>
                      </a:r>
                      <a:endParaRPr sz="10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Quattrocento Sans"/>
                        <a:buNone/>
                      </a:pPr>
                      <a:r>
                        <a:t/>
                      </a:r>
                      <a:endParaRPr b="1" sz="1000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000"/>
                        <a:buFont typeface="Quattrocento San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EF4444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</a:t>
                      </a:r>
                      <a:r>
                        <a:rPr b="1" lang="en-US" sz="1000">
                          <a:solidFill>
                            <a:srgbClr val="EF4444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9.5</a:t>
                      </a:r>
                      <a:endParaRPr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Quattrocento Sans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</a:t>
                      </a:r>
                      <a:endParaRPr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Quattrocento Sans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90000000005</a:t>
                      </a:r>
                      <a:endParaRPr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Quattrocento San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64748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93.8</a:t>
                      </a:r>
                      <a:endParaRPr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92" name="Google Shape;192;p8"/>
          <p:cNvSpPr/>
          <p:nvPr/>
        </p:nvSpPr>
        <p:spPr>
          <a:xfrm>
            <a:off x="4663440" y="3017520"/>
            <a:ext cx="4023360" cy="155448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4846320" y="31089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Quattrocento Sans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OPERATIONAL IMPACT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846320" y="3383280"/>
            <a:ext cx="3657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Quattrocento Sans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Instead of wasting cycles reviewing random or low-probability alerts, compliance teams can focus directly on the highest risk tiers. This shifts AML operations from reactive triage to proactive threat mitigation.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Quattrocento Sans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Explainability &amp; Dashboard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6400800" y="2743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AML RISK PRIORITIZATION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9"/>
          <p:cNvCxnSpPr/>
          <p:nvPr/>
        </p:nvCxnSpPr>
        <p:spPr>
          <a:xfrm>
            <a:off x="457200" y="731520"/>
            <a:ext cx="8229600" cy="9144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9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AI/ML Intelligence Hackathon — Track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7315200" y="48463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9 of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EXPLAINABLE AI (SHAP)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457200" y="128016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SHAP explanations build regulatory trust by decomposing predictions into additive feature contributions: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57200" y="1920240"/>
            <a:ext cx="3840480" cy="2651760"/>
          </a:xfrm>
          <a:prstGeom prst="roundRect">
            <a:avLst>
              <a:gd fmla="val 16667" name="adj"/>
            </a:avLst>
          </a:prstGeom>
          <a:solidFill>
            <a:srgbClr val="FFFBEB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640080" y="201168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Quattrocento Sans"/>
              <a:buNone/>
            </a:pPr>
            <a:r>
              <a:rPr b="1" i="0" lang="en-US" sz="125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SHAP THREAT ANALYSIS DETAILS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640080" y="2286000"/>
            <a:ext cx="34747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Target: </a:t>
            </a: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Account </a:t>
            </a:r>
            <a:r>
              <a:rPr lang="en-US" sz="12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900000000073</a:t>
            </a:r>
            <a:b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 Score: </a:t>
            </a:r>
            <a:r>
              <a:rPr b="1" i="0" lang="en-US" sz="12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r>
              <a:rPr b="1" lang="en-US" sz="1200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r>
              <a:rPr b="1" i="0" lang="en-US" sz="12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/ 100</a:t>
            </a:r>
            <a:br>
              <a:rPr b="1" i="0" lang="en-US" sz="12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1" i="0" lang="en-US" sz="12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 Driving Risk Factors:</a:t>
            </a:r>
            <a:br>
              <a:rPr b="1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Cross-border activity flag</a:t>
            </a:r>
            <a:b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(+34.2% contribution to probability)</a:t>
            </a:r>
            <a:b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High transaction velocity</a:t>
            </a:r>
            <a:b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(+21.5% contribution to probability)</a:t>
            </a:r>
            <a:b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PEP (Politically Exposed Person) indicator</a:t>
            </a:r>
            <a:b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(+18.9% contribution to probability)</a:t>
            </a:r>
            <a:b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Amount anomaly score (sender Z-score)</a:t>
            </a:r>
            <a:br>
              <a:rPr b="0" i="0" lang="en-US" sz="1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(+15.4% contribution to probability)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4572000" y="10058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INTERACTIVE ANALYST 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572000" y="1280160"/>
            <a:ext cx="4114800" cy="3291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336625"/>
            <a:ext cx="4168576" cy="314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e1c48b8f3_0_27"/>
          <p:cNvSpPr txBox="1"/>
          <p:nvPr/>
        </p:nvSpPr>
        <p:spPr>
          <a:xfrm>
            <a:off x="242100" y="198425"/>
            <a:ext cx="48219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ee1c48b8f3_0_27"/>
          <p:cNvSpPr txBox="1"/>
          <p:nvPr/>
        </p:nvSpPr>
        <p:spPr>
          <a:xfrm>
            <a:off x="242100" y="278225"/>
            <a:ext cx="347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63EB"/>
                </a:solidFill>
              </a:rPr>
              <a:t>Dashboard Output</a:t>
            </a:r>
            <a:endParaRPr sz="2400">
              <a:solidFill>
                <a:srgbClr val="2563EB"/>
              </a:solidFill>
            </a:endParaRPr>
          </a:p>
        </p:txBody>
      </p:sp>
      <p:cxnSp>
        <p:nvCxnSpPr>
          <p:cNvPr id="220" name="Google Shape;220;g3ee1c48b8f3_0_27"/>
          <p:cNvCxnSpPr/>
          <p:nvPr/>
        </p:nvCxnSpPr>
        <p:spPr>
          <a:xfrm flipH="1" rot="10800000">
            <a:off x="242100" y="901025"/>
            <a:ext cx="8346300" cy="3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g3ee1c48b8f3_0_27"/>
          <p:cNvSpPr txBox="1"/>
          <p:nvPr/>
        </p:nvSpPr>
        <p:spPr>
          <a:xfrm>
            <a:off x="5945175" y="567525"/>
            <a:ext cx="26433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1" lang="en-US" sz="9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AML RISK PRIORITIZATION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g3ee1c48b8f3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100" y="1082225"/>
            <a:ext cx="4260974" cy="336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3ee1c48b8f3_0_27"/>
          <p:cNvPicPr preferRelativeResize="0"/>
          <p:nvPr/>
        </p:nvPicPr>
        <p:blipFill rotWithShape="1">
          <a:blip r:embed="rId4">
            <a:alphaModFix/>
          </a:blip>
          <a:srcRect b="7121" l="1134" r="1134" t="-3219"/>
          <a:stretch/>
        </p:blipFill>
        <p:spPr>
          <a:xfrm>
            <a:off x="4654125" y="1008025"/>
            <a:ext cx="4489875" cy="342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Quattrocento San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Results &amp; Impact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6400800" y="2743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AML RISK PRIORITIZATION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10"/>
          <p:cNvCxnSpPr/>
          <p:nvPr/>
        </p:nvCxnSpPr>
        <p:spPr>
          <a:xfrm>
            <a:off x="457200" y="731520"/>
            <a:ext cx="8229600" cy="9144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10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AI/ML Intelligence Hackathon — Track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7315200" y="48463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10 of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PERFORMANCE METRICS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457200" y="1280160"/>
            <a:ext cx="365760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640080" y="13716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600"/>
              <a:buFont typeface="Quattrocento Sans"/>
              <a:buNone/>
            </a:pPr>
            <a:r>
              <a:rPr b="1" lang="en-US" sz="2600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0.84</a:t>
            </a:r>
            <a:r>
              <a:rPr b="1" i="0" lang="en-US" sz="26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640080" y="182880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Out-Of-Fold PR-AUC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(Baseline Average Precision)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457200" y="2286000"/>
            <a:ext cx="365760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640080" y="23774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600"/>
              <a:buFont typeface="Quattrocento Sans"/>
              <a:buNone/>
            </a:pPr>
            <a:r>
              <a:rPr b="1" lang="en-US" sz="2600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100.00</a:t>
            </a:r>
            <a:r>
              <a:rPr b="1" i="0" lang="en-US" sz="26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640080" y="283464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Precision @ Top 50 Accounts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r>
              <a:rPr b="1" lang="en-US" sz="9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</a:t>
            </a:r>
            <a:r>
              <a:rPr b="1" i="0" lang="en-US" sz="9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of investigated alerts are true fraud)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457200" y="3291840"/>
            <a:ext cx="365760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640080" y="33832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600"/>
              <a:buFont typeface="Quattrocento Sans"/>
              <a:buNone/>
            </a:pPr>
            <a:r>
              <a:rPr b="1" lang="en-US" sz="2600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21.10</a:t>
            </a:r>
            <a:r>
              <a:rPr b="1" i="0" lang="en-US" sz="26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640080" y="384048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Recall @ Top 50 Accounts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(Catches </a:t>
            </a:r>
            <a:r>
              <a:rPr b="1" lang="en-US" sz="9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21.10</a:t>
            </a:r>
            <a:r>
              <a:rPr b="1" i="0" lang="en-US" sz="9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of total fraud by checking top 1% targets)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389120" y="896115"/>
            <a:ext cx="429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Quattrocento Sans"/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BUSINESS IMPACT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4389120" y="1325880"/>
            <a:ext cx="429768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Quattrocento Sans"/>
              <a:buNone/>
            </a:pPr>
            <a:r>
              <a:rPr b="1" i="0" lang="en-US" sz="12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Prioritizes Highest-Risk Accounts</a:t>
            </a:r>
            <a:br>
              <a:rPr b="1" i="0" lang="en-US" sz="12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Guides compliance officers directly to high-threat accounts first.</a:t>
            </a:r>
            <a:br>
              <a:rPr b="0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0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2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Reduces Analyst Workload</a:t>
            </a:r>
            <a:br>
              <a:rPr b="1" i="0" lang="en-US" sz="12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Dramatically limits investigative noise and false-positive cycles.</a:t>
            </a:r>
            <a:br>
              <a:rPr b="0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0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2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Improves Investigation Efficiency</a:t>
            </a:r>
            <a:br>
              <a:rPr b="1" i="0" lang="en-US" sz="12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Boosts speed-to-action by consolidating context (KYC &amp; activity) in one spot.</a:t>
            </a:r>
            <a:br>
              <a:rPr b="0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0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2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Provides Explainable Risk Assessments</a:t>
            </a:r>
            <a:br>
              <a:rPr b="1" i="0" lang="en-US" sz="12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Fully compliant with model governance rules using clear SHAP outputs.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457200" y="4343400"/>
            <a:ext cx="8229600" cy="41148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Quattrocento Sans"/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TAKEAWAY: </a:t>
            </a:r>
            <a:r>
              <a:rPr b="0" i="1" lang="en-US" sz="9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Our model delivers an analyst-ready AML prioritization framework combining risk prediction, ranking, and explainability.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e1c48b8f3_0_41"/>
          <p:cNvSpPr txBox="1"/>
          <p:nvPr/>
        </p:nvSpPr>
        <p:spPr>
          <a:xfrm>
            <a:off x="542075" y="333000"/>
            <a:ext cx="39378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563EB"/>
                </a:solidFill>
              </a:rPr>
              <a:t>Visualizing</a:t>
            </a:r>
            <a:r>
              <a:rPr b="1" lang="en-US" sz="2400">
                <a:solidFill>
                  <a:srgbClr val="2563EB"/>
                </a:solidFill>
              </a:rPr>
              <a:t> PR AUC</a:t>
            </a:r>
            <a:endParaRPr b="1" sz="2400">
              <a:solidFill>
                <a:srgbClr val="2563EB"/>
              </a:solidFill>
            </a:endParaRPr>
          </a:p>
        </p:txBody>
      </p:sp>
      <p:cxnSp>
        <p:nvCxnSpPr>
          <p:cNvPr id="254" name="Google Shape;254;g3ee1c48b8f3_0_41"/>
          <p:cNvCxnSpPr/>
          <p:nvPr/>
        </p:nvCxnSpPr>
        <p:spPr>
          <a:xfrm flipH="1" rot="10800000">
            <a:off x="587700" y="960300"/>
            <a:ext cx="7957800" cy="2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g3ee1c48b8f3_0_41"/>
          <p:cNvSpPr txBox="1"/>
          <p:nvPr/>
        </p:nvSpPr>
        <p:spPr>
          <a:xfrm>
            <a:off x="6710100" y="635000"/>
            <a:ext cx="18354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1" lang="en-US" sz="9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AML RISK PRIORITIZATION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g3ee1c48b8f3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488" y="1077725"/>
            <a:ext cx="7816223" cy="3855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e1c48b8f3_0_49"/>
          <p:cNvSpPr/>
          <p:nvPr/>
        </p:nvSpPr>
        <p:spPr>
          <a:xfrm>
            <a:off x="7750" y="7750"/>
            <a:ext cx="91440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ee1c48b8f3_0_49"/>
          <p:cNvSpPr/>
          <p:nvPr/>
        </p:nvSpPr>
        <p:spPr>
          <a:xfrm>
            <a:off x="19350" y="30975"/>
            <a:ext cx="418200" cy="51435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563EB"/>
              </a:solidFill>
            </a:endParaRPr>
          </a:p>
        </p:txBody>
      </p:sp>
      <p:cxnSp>
        <p:nvCxnSpPr>
          <p:cNvPr id="264" name="Google Shape;264;g3ee1c48b8f3_0_49"/>
          <p:cNvCxnSpPr/>
          <p:nvPr/>
        </p:nvCxnSpPr>
        <p:spPr>
          <a:xfrm flipH="1" rot="10800000">
            <a:off x="1935975" y="2772225"/>
            <a:ext cx="5459400" cy="11700"/>
          </a:xfrm>
          <a:prstGeom prst="straightConnector1">
            <a:avLst/>
          </a:prstGeom>
          <a:noFill/>
          <a:ln cap="flat" cmpd="sng" w="38100">
            <a:solidFill>
              <a:srgbClr val="2563E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g3ee1c48b8f3_0_49"/>
          <p:cNvSpPr txBox="1"/>
          <p:nvPr/>
        </p:nvSpPr>
        <p:spPr>
          <a:xfrm>
            <a:off x="3313600" y="1970850"/>
            <a:ext cx="25323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2563EB"/>
                </a:solidFill>
              </a:rPr>
              <a:t>THANK YOU</a:t>
            </a:r>
            <a:endParaRPr sz="2900">
              <a:solidFill>
                <a:srgbClr val="2563EB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2026-06-20T09:54:54Z</dcterms:created>
  <dc:creator>PptxGenJS</dc:creator>
</cp:coreProperties>
</file>